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4" r:id="rId3"/>
    <p:sldId id="265" r:id="rId4"/>
    <p:sldId id="263" r:id="rId5"/>
    <p:sldId id="259" r:id="rId6"/>
    <p:sldId id="257" r:id="rId7"/>
    <p:sldId id="258" r:id="rId8"/>
    <p:sldId id="260" r:id="rId9"/>
    <p:sldId id="261" r:id="rId10"/>
    <p:sldId id="266" r:id="rId11"/>
    <p:sldId id="267" r:id="rId12"/>
    <p:sldId id="268" r:id="rId13"/>
    <p:sldId id="269" r:id="rId14"/>
    <p:sldId id="270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4D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CD4F3E-CC0C-4A3B-BCD2-6BD92746F4BD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DBBDE-4E54-4FFA-BF95-2B764DE7F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83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6B3C55-4E8E-2E24-8525-9BF54AA24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08AD4-DF25-F842-2CFE-5A6F41D07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31AB-A6A6-43F6-8710-5EF6543A79C3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87E12-50E7-C712-7009-A74D6F291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9C621-3EE6-0E82-6F87-14A16D215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6A0-A1CE-43DB-88A0-6F73625CCD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EF8E4AB-1FD0-895F-2216-30B9F4AC4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0976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0F4C0-C364-4898-7E29-ED4023615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458B6-A8E7-5B04-5B43-F87BD95FE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EC184-3436-D19F-E91D-2350E1311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31AB-A6A6-43F6-8710-5EF6543A79C3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4F64D-BBDB-52DB-06EB-74737EB6A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7DB5B-EBA5-EAA1-8A17-7EC7EBC3A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6A0-A1CE-43DB-88A0-6F73625CC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024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A2290-76D4-44A8-7B59-5F664300A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CBCB4-D233-302B-879E-F74F6AFEE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5DA6E-23B2-6539-D3FE-DCC3A67BB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31AB-A6A6-43F6-8710-5EF6543A79C3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C42F3-FDFF-BE50-1720-0342413CF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B8D29-5567-A70B-37C6-4A616DBE0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6A0-A1CE-43DB-88A0-6F73625CC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00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8B069-7E0F-1185-6A19-40276AACA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DF2E3-8405-B8B5-9CAE-06C3CAE0D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C7D5F-AAD2-21F1-C8AD-D83EBFE2B7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E3BAB-ADC2-977D-123C-93571AA6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31AB-A6A6-43F6-8710-5EF6543A79C3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0DC20-AE1B-FDAC-59E9-B10FED9EF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2D080-569C-C03E-C3A9-E9C0C1F6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6A0-A1CE-43DB-88A0-6F73625CC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60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EEE1B-29C2-1A37-6028-CD7BB8A55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CF9B8-2E87-7FA6-6ECA-30B3423C0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5B6FB-54B3-C33B-7372-659A0C081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34CA6A-102B-1466-EDEB-CFE7327699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DEE875-38FD-3B9F-3093-1165F873F6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6FBE81-B339-BB43-B4CF-8D15A5C85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31AB-A6A6-43F6-8710-5EF6543A79C3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A2F19A-1AAB-21D5-CE69-84C36018E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C4ED2B-61FD-84E8-23E3-B591D8598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6A0-A1CE-43DB-88A0-6F73625CC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46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58B77-6C43-2A19-FB23-3D5295370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2CFEE5-3A1C-B8C9-B289-F560F01CC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31AB-A6A6-43F6-8710-5EF6543A79C3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484D53-51CC-2609-CC62-D2716BC53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0DA606-AE8C-81E1-26F9-83D1F86C6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6A0-A1CE-43DB-88A0-6F73625CC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785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F67DED-3D59-0184-F3CF-AC196A764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31AB-A6A6-43F6-8710-5EF6543A79C3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63336-642B-767B-082E-0E78C7C6D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C4342-CB3B-E971-330D-865E836CD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6A0-A1CE-43DB-88A0-6F73625CC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95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FB3CC-0C08-16F4-B4D1-D26F9C5CB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05E77-787F-9AEE-5CA8-5F0291BA2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1B5F7-084B-ED32-B837-B7BE7B822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E0647-1576-5C1F-6C3E-48E52BC4B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31AB-A6A6-43F6-8710-5EF6543A79C3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0188A-8B86-BFA1-E41C-B92E99D3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25903-2200-7A77-A888-4034F7495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6A0-A1CE-43DB-88A0-6F73625CC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41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7B371-8D62-B14C-317A-32EB4E51F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3BCDAA-2F9E-6818-3330-9F2B1C6C48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1336E4-7A99-DB25-2590-C53873842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D2C4AD-87B0-17D5-751D-06890ACA1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31AB-A6A6-43F6-8710-5EF6543A79C3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3CEFA-D1DE-8B6C-D6FB-FD9C1A303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DCD2F-16BB-97B1-BA08-BB96F42AF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6A0-A1CE-43DB-88A0-6F73625CC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13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21FB6-597B-CFB9-74D5-114FC7EBC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C5893-C3DE-A306-CD57-CDB5D355A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7BBFA-58B3-9634-D901-C635D702B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31AB-A6A6-43F6-8710-5EF6543A79C3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22315-BE5C-606D-28F0-98798FC4A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6C053-CD77-A7D0-92F7-0B4048E8B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6A0-A1CE-43DB-88A0-6F73625CC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74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4018E7-1ECA-B2CA-325A-B9A4A0CE6B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DF0E7-FA52-F342-CEE2-9A0A5B8F4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C3EB1-23E5-907D-02B3-80ED3E265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31AB-A6A6-43F6-8710-5EF6543A79C3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4DB1D-F5E7-9477-58CB-39EA2A197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1875B-BFE5-13AC-454A-405191200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6A0-A1CE-43DB-88A0-6F73625CC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88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A436B7-54F8-38DB-1220-55D16C700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AE794-863F-218B-B4BB-DC906D5E8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28736-2517-7D0F-72DB-B7F07B0AC8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431AB-A6A6-43F6-8710-5EF6543A79C3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CCE59-5EEE-E8C6-C094-821EFAF5C7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D9ABB-FF99-ED77-9666-44B524D0F7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35F6A0-A1CE-43DB-88A0-6F73625CC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430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59CB0098-2EB1-1DD1-02E0-15C82CF53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47304" y="4940555"/>
            <a:ext cx="3813048" cy="1655762"/>
          </a:xfrm>
        </p:spPr>
        <p:txBody>
          <a:bodyPr>
            <a:normAutofit/>
          </a:bodyPr>
          <a:lstStyle/>
          <a:p>
            <a:pPr algn="l">
              <a:spcBef>
                <a:spcPts val="600"/>
              </a:spcBef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Presented By – </a:t>
            </a:r>
            <a:endParaRPr lang="en-US" b="1" dirty="0"/>
          </a:p>
          <a:p>
            <a:pPr algn="l">
              <a:spcBef>
                <a:spcPts val="600"/>
              </a:spcBef>
            </a:pPr>
            <a:r>
              <a:rPr lang="en-US" b="1" dirty="0"/>
              <a:t>Name :- Aksh Kantiwal</a:t>
            </a:r>
          </a:p>
          <a:p>
            <a:pPr algn="l"/>
            <a:r>
              <a:rPr lang="en-US" b="1" dirty="0"/>
              <a:t>Roll No.:-24ESKCA018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839BBE-A389-A800-20F5-44E578BD7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8528" y="2329697"/>
            <a:ext cx="10021824" cy="1325563"/>
          </a:xfrm>
        </p:spPr>
        <p:txBody>
          <a:bodyPr/>
          <a:lstStyle/>
          <a:p>
            <a:r>
              <a:rPr lang="en-US" dirty="0"/>
              <a:t>   Smart Farmer Advisory System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45E0B9-1F43-CA7E-4EA6-49360A375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20" y="261683"/>
            <a:ext cx="11287824" cy="15031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15A1C6-CAD1-1EB3-F8FC-3F30C9F96EEA}"/>
              </a:ext>
            </a:extLst>
          </p:cNvPr>
          <p:cNvSpPr txBox="1"/>
          <p:nvPr/>
        </p:nvSpPr>
        <p:spPr>
          <a:xfrm>
            <a:off x="3731736" y="1764792"/>
            <a:ext cx="4270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Industrial Training Presentation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6E74E5-B37C-986E-A4F3-7B5B70357207}"/>
              </a:ext>
            </a:extLst>
          </p:cNvPr>
          <p:cNvSpPr txBox="1"/>
          <p:nvPr/>
        </p:nvSpPr>
        <p:spPr>
          <a:xfrm>
            <a:off x="493776" y="5084064"/>
            <a:ext cx="35509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Submitted To:</a:t>
            </a:r>
            <a:endParaRPr lang="en-US" sz="2400" b="1" dirty="0"/>
          </a:p>
          <a:p>
            <a:r>
              <a:rPr lang="en-US" sz="2400" b="1" dirty="0"/>
              <a:t>Name :- Neha Mathur</a:t>
            </a:r>
          </a:p>
          <a:p>
            <a:r>
              <a:rPr lang="en-US" sz="2400" b="1" dirty="0"/>
              <a:t>Assistant Professor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FAEB11-5AA6-E5EA-EF07-18ACC3FFDA3D}"/>
              </a:ext>
            </a:extLst>
          </p:cNvPr>
          <p:cNvSpPr txBox="1"/>
          <p:nvPr/>
        </p:nvSpPr>
        <p:spPr>
          <a:xfrm>
            <a:off x="3410712" y="3358390"/>
            <a:ext cx="5615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AI Powered Crop Price Prediction &amp; Market Analytics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AC35617-55C4-2CDF-E3B4-E364C67A6876}"/>
              </a:ext>
            </a:extLst>
          </p:cNvPr>
          <p:cNvCxnSpPr/>
          <p:nvPr/>
        </p:nvCxnSpPr>
        <p:spPr>
          <a:xfrm>
            <a:off x="0" y="6510449"/>
            <a:ext cx="1219200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9EAA3E5-37B5-AFEB-13A7-D110BB93A5EA}"/>
              </a:ext>
            </a:extLst>
          </p:cNvPr>
          <p:cNvSpPr txBox="1"/>
          <p:nvPr/>
        </p:nvSpPr>
        <p:spPr>
          <a:xfrm>
            <a:off x="3072384" y="6488668"/>
            <a:ext cx="521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Department of Computer Science &amp; Engineering (AI)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669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BCFF429-E1A7-9293-1944-C9263F7DC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2816" y="1616584"/>
            <a:ext cx="3008376" cy="4325810"/>
          </a:xfrm>
        </p:spPr>
        <p:txBody>
          <a:bodyPr>
            <a:noAutofit/>
          </a:bodyPr>
          <a:lstStyle/>
          <a:p>
            <a:pPr algn="l"/>
            <a:r>
              <a:rPr lang="en-US" sz="2000" b="1" dirty="0"/>
              <a:t>1.Company Introduction </a:t>
            </a:r>
          </a:p>
          <a:p>
            <a:pPr algn="l"/>
            <a:r>
              <a:rPr lang="en-US" sz="2000" b="1" dirty="0"/>
              <a:t>2.Internship Overview </a:t>
            </a:r>
          </a:p>
          <a:p>
            <a:pPr algn="l"/>
            <a:r>
              <a:rPr lang="en-US" sz="2000" b="1" dirty="0"/>
              <a:t>3.Technology Stack </a:t>
            </a:r>
          </a:p>
          <a:p>
            <a:pPr algn="l"/>
            <a:r>
              <a:rPr lang="en-US" sz="2000" b="1" dirty="0"/>
              <a:t>4.Problem Statement </a:t>
            </a:r>
          </a:p>
          <a:p>
            <a:pPr algn="l"/>
            <a:r>
              <a:rPr lang="en-US" sz="2000" b="1" dirty="0"/>
              <a:t>5.Project Objectives </a:t>
            </a:r>
          </a:p>
          <a:p>
            <a:pPr algn="l"/>
            <a:r>
              <a:rPr lang="en-US" sz="2000" b="1" dirty="0"/>
              <a:t>6.Project Execution Flow </a:t>
            </a:r>
          </a:p>
          <a:p>
            <a:pPr algn="l"/>
            <a:r>
              <a:rPr lang="en-US" sz="2000" b="1" dirty="0"/>
              <a:t>7.Machine Learning Model </a:t>
            </a:r>
          </a:p>
          <a:p>
            <a:pPr algn="l"/>
            <a:r>
              <a:rPr lang="en-US" sz="2000" b="1" dirty="0"/>
              <a:t>8.Dashboard Overview </a:t>
            </a:r>
          </a:p>
          <a:p>
            <a:pPr algn="l"/>
            <a:r>
              <a:rPr lang="en-US" sz="2000" b="1" dirty="0"/>
              <a:t>9.AI Price Prediction </a:t>
            </a:r>
          </a:p>
          <a:p>
            <a:pPr algn="l"/>
            <a:r>
              <a:rPr lang="en-US" sz="2000" b="1" dirty="0"/>
              <a:t>10.Market Analytics </a:t>
            </a:r>
          </a:p>
          <a:p>
            <a:pPr algn="l"/>
            <a:r>
              <a:rPr lang="en-US" sz="2000" b="1" dirty="0"/>
              <a:t>11.Market Records </a:t>
            </a:r>
          </a:p>
          <a:p>
            <a:pPr algn="l"/>
            <a:r>
              <a:rPr lang="en-US" sz="2000" b="1" dirty="0"/>
              <a:t>12.Future Scope </a:t>
            </a:r>
          </a:p>
          <a:p>
            <a:pPr algn="l"/>
            <a:r>
              <a:rPr lang="en-US" sz="2000" b="1" dirty="0"/>
              <a:t>13.Questions &amp; Discussion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BDA951-D724-B569-029E-B22DEC0A2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6" y="346837"/>
            <a:ext cx="10704576" cy="1325563"/>
          </a:xfrm>
        </p:spPr>
        <p:txBody>
          <a:bodyPr/>
          <a:lstStyle/>
          <a:p>
            <a:r>
              <a:rPr lang="en-US" dirty="0">
                <a:solidFill>
                  <a:srgbClr val="324D1F"/>
                </a:solidFill>
              </a:rPr>
              <a:t>                                  INDEX</a:t>
            </a:r>
          </a:p>
        </p:txBody>
      </p:sp>
    </p:spTree>
    <p:extLst>
      <p:ext uri="{BB962C8B-B14F-4D97-AF65-F5344CB8AC3E}">
        <p14:creationId xmlns:p14="http://schemas.microsoft.com/office/powerpoint/2010/main" val="3922610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CE6443A-BB85-2B69-ED4B-ECDCE875E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64791"/>
            <a:ext cx="9144000" cy="4059937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dirty="0"/>
              <a:t>🏢 </a:t>
            </a:r>
            <a:r>
              <a:rPr lang="en-US" b="1" dirty="0"/>
              <a:t>Code Connect Pvt. Ltd.</a:t>
            </a:r>
            <a:r>
              <a:rPr lang="en-US" dirty="0"/>
              <a:t> is a Jaipur-based IT Services &amp; Software Development Company. </a:t>
            </a:r>
          </a:p>
          <a:p>
            <a:pPr algn="l">
              <a:lnSpc>
                <a:spcPct val="100000"/>
              </a:lnSpc>
            </a:pPr>
            <a:r>
              <a:rPr lang="en-US" dirty="0"/>
              <a:t>💻 Expertise in Artificial Intelligence, Machine Learning, Data Analytics &amp; Python Development. </a:t>
            </a:r>
          </a:p>
          <a:p>
            <a:pPr algn="l">
              <a:lnSpc>
                <a:spcPct val="100000"/>
              </a:lnSpc>
            </a:pPr>
            <a:r>
              <a:rPr lang="en-US" dirty="0"/>
              <a:t>🌐 Builds modern web applications and intelligent software solutions. </a:t>
            </a:r>
          </a:p>
          <a:p>
            <a:pPr algn="l">
              <a:lnSpc>
                <a:spcPct val="100000"/>
              </a:lnSpc>
            </a:pPr>
            <a:r>
              <a:rPr lang="en-US" dirty="0"/>
              <a:t>🎯 Delivers industry-oriented training through real-world projects and mentorship. </a:t>
            </a:r>
          </a:p>
          <a:p>
            <a:pPr algn="l">
              <a:lnSpc>
                <a:spcPct val="100000"/>
              </a:lnSpc>
            </a:pPr>
            <a:r>
              <a:rPr lang="en-US" dirty="0"/>
              <a:t>🚀 Committed to innovation, technical excellence, and practical learning.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F1B891-6BCF-F01B-FBB6-F516BE51C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24D1F"/>
                </a:solidFill>
              </a:rPr>
              <a:t>                 Company 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743AA2-55E4-CB5A-1D9B-6EFE0B61A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884" y="5705856"/>
            <a:ext cx="3828491" cy="90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647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A66DE0-791A-C32E-939E-3F5C5EAEA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504" y="182880"/>
            <a:ext cx="5943599" cy="651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993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8113B-4B9B-2766-EF2D-03BC354EA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1161" y="137160"/>
            <a:ext cx="4398264" cy="1005523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Technology Stack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C44F26-3F4F-C704-E431-FE50143A6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96" y="1142683"/>
            <a:ext cx="2697480" cy="17383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C243FB-B027-E101-313B-4D2EC4821627}"/>
              </a:ext>
            </a:extLst>
          </p:cNvPr>
          <p:cNvSpPr txBox="1"/>
          <p:nvPr/>
        </p:nvSpPr>
        <p:spPr>
          <a:xfrm>
            <a:off x="935452" y="2830501"/>
            <a:ext cx="1729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Core Logic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DD37FC-37E8-B3F9-2E51-1C9D6C29D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748" y="1142683"/>
            <a:ext cx="3077090" cy="17383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9EBC23F-281E-28C1-7EE9-9141EE31FC65}"/>
              </a:ext>
            </a:extLst>
          </p:cNvPr>
          <p:cNvSpPr txBox="1"/>
          <p:nvPr/>
        </p:nvSpPr>
        <p:spPr>
          <a:xfrm>
            <a:off x="4055931" y="2880995"/>
            <a:ext cx="3077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          Web Interface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949DD3-8FDC-1964-088A-6926AAEDD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3610" y="1142684"/>
            <a:ext cx="2789162" cy="17383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93F6B98-C35F-BED1-A954-5A4DD896F19A}"/>
              </a:ext>
            </a:extLst>
          </p:cNvPr>
          <p:cNvSpPr txBox="1"/>
          <p:nvPr/>
        </p:nvSpPr>
        <p:spPr>
          <a:xfrm>
            <a:off x="9089136" y="2880995"/>
            <a:ext cx="1929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Database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AD50326-C33B-9E08-34BE-D5CEEDBEFD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4055279"/>
            <a:ext cx="2697480" cy="19661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E1D096C-12CB-F5FE-1272-2EF6E7327E3F}"/>
              </a:ext>
            </a:extLst>
          </p:cNvPr>
          <p:cNvSpPr txBox="1"/>
          <p:nvPr/>
        </p:nvSpPr>
        <p:spPr>
          <a:xfrm>
            <a:off x="987552" y="6012265"/>
            <a:ext cx="1801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ML Model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65B7B0A-ABC7-18C1-F745-B6E5B4C2B8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8553" y="4055279"/>
            <a:ext cx="2980285" cy="19569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A916FC1-4780-A3CF-8F0E-280D168C97FE}"/>
              </a:ext>
            </a:extLst>
          </p:cNvPr>
          <p:cNvSpPr txBox="1"/>
          <p:nvPr/>
        </p:nvSpPr>
        <p:spPr>
          <a:xfrm>
            <a:off x="4925217" y="6012264"/>
            <a:ext cx="2341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Visualization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A55E74-D4FC-51BE-45E0-7F1D5C516E64}"/>
              </a:ext>
            </a:extLst>
          </p:cNvPr>
          <p:cNvSpPr txBox="1"/>
          <p:nvPr/>
        </p:nvSpPr>
        <p:spPr>
          <a:xfrm>
            <a:off x="8996172" y="6012263"/>
            <a:ext cx="2208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Version Control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0C74DB5-8204-5ADB-76AB-F32784AFD9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0416" y="4055279"/>
            <a:ext cx="2692356" cy="19661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3396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76A6-505D-C4BB-E84C-A3BB3655C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3206" y="218821"/>
            <a:ext cx="7791450" cy="1325563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9B4BD-324F-826C-4BBC-404509E59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3430" y="1673352"/>
            <a:ext cx="9420225" cy="427462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>
                <a:srgbClr val="324D1F"/>
              </a:buClr>
              <a:buFont typeface="Wingdings" panose="05000000000000000000" pitchFamily="2" charset="2"/>
              <a:buChar char="§"/>
            </a:pPr>
            <a:r>
              <a:rPr lang="en-US" dirty="0"/>
              <a:t>Farmers struggle to identify the best time and market to sell crops. </a:t>
            </a:r>
          </a:p>
          <a:p>
            <a:pPr>
              <a:lnSpc>
                <a:spcPct val="150000"/>
              </a:lnSpc>
              <a:buClr>
                <a:srgbClr val="324D1F"/>
              </a:buClr>
              <a:buFont typeface="Wingdings" panose="05000000000000000000" pitchFamily="2" charset="2"/>
              <a:buChar char="§"/>
            </a:pPr>
            <a:r>
              <a:rPr lang="en-US" dirty="0"/>
              <a:t> Crop prices fluctuate frequently, making selling decisions difficult.</a:t>
            </a:r>
          </a:p>
          <a:p>
            <a:pPr>
              <a:lnSpc>
                <a:spcPct val="150000"/>
              </a:lnSpc>
              <a:buClr>
                <a:srgbClr val="324D1F"/>
              </a:buClr>
              <a:buFont typeface="Wingdings" panose="05000000000000000000" pitchFamily="2" charset="2"/>
              <a:buChar char="§"/>
            </a:pPr>
            <a:r>
              <a:rPr lang="en-US" dirty="0"/>
              <a:t> Government agricultural market data is large and difficult to analyze manually.</a:t>
            </a:r>
          </a:p>
          <a:p>
            <a:pPr>
              <a:lnSpc>
                <a:spcPct val="150000"/>
              </a:lnSpc>
              <a:buClr>
                <a:srgbClr val="324D1F"/>
              </a:buClr>
              <a:buFont typeface="Wingdings" panose="05000000000000000000" pitchFamily="2" charset="2"/>
              <a:buChar char="§"/>
            </a:pPr>
            <a:r>
              <a:rPr lang="en-US" dirty="0"/>
              <a:t> Limited access to prediction-based market insights.</a:t>
            </a:r>
          </a:p>
        </p:txBody>
      </p:sp>
    </p:spTree>
    <p:extLst>
      <p:ext uri="{BB962C8B-B14F-4D97-AF65-F5344CB8AC3E}">
        <p14:creationId xmlns:p14="http://schemas.microsoft.com/office/powerpoint/2010/main" val="3740538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0ED2-721D-D44A-E7D2-67894D9BF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9896" y="365125"/>
            <a:ext cx="4443984" cy="1325563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34101-5D02-55A3-F10D-30A423595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496" y="1993392"/>
            <a:ext cx="10515600" cy="4343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324D1F"/>
              </a:buClr>
              <a:buFont typeface="Wingdings" panose="05000000000000000000" pitchFamily="2" charset="2"/>
              <a:buChar char="ü"/>
            </a:pPr>
            <a:r>
              <a:rPr lang="en-US" sz="3200" dirty="0"/>
              <a:t>🎯 Predict future crop prices using Machine Learning. </a:t>
            </a:r>
          </a:p>
          <a:p>
            <a:pPr>
              <a:lnSpc>
                <a:spcPct val="150000"/>
              </a:lnSpc>
              <a:buClr>
                <a:srgbClr val="324D1F"/>
              </a:buClr>
              <a:buFont typeface="Wingdings" panose="05000000000000000000" pitchFamily="2" charset="2"/>
              <a:buChar char="ü"/>
            </a:pPr>
            <a:r>
              <a:rPr lang="en-US" sz="3200" dirty="0"/>
              <a:t>📊 Analyze historical agricultural market data. </a:t>
            </a:r>
          </a:p>
          <a:p>
            <a:pPr>
              <a:lnSpc>
                <a:spcPct val="150000"/>
              </a:lnSpc>
              <a:buClr>
                <a:srgbClr val="324D1F"/>
              </a:buClr>
              <a:buFont typeface="Wingdings" panose="05000000000000000000" pitchFamily="2" charset="2"/>
              <a:buChar char="ü"/>
            </a:pPr>
            <a:r>
              <a:rPr lang="en-US" sz="3200" dirty="0"/>
              <a:t>📈 Identify seasonal price trends and market patterns.</a:t>
            </a:r>
          </a:p>
          <a:p>
            <a:pPr>
              <a:lnSpc>
                <a:spcPct val="150000"/>
              </a:lnSpc>
              <a:buClr>
                <a:srgbClr val="324D1F"/>
              </a:buClr>
              <a:buFont typeface="Wingdings" panose="05000000000000000000" pitchFamily="2" charset="2"/>
              <a:buChar char="ü"/>
            </a:pPr>
            <a:r>
              <a:rPr lang="en-US" sz="3200" dirty="0"/>
              <a:t> 🤖 Generate BUY / SELL / MONITOR recommendations.</a:t>
            </a:r>
          </a:p>
          <a:p>
            <a:pPr>
              <a:lnSpc>
                <a:spcPct val="150000"/>
              </a:lnSpc>
              <a:buClr>
                <a:srgbClr val="324D1F"/>
              </a:buClr>
              <a:buFont typeface="Wingdings" panose="05000000000000000000" pitchFamily="2" charset="2"/>
              <a:buChar char="ü"/>
            </a:pPr>
            <a:r>
              <a:rPr lang="en-US" sz="3200" dirty="0"/>
              <a:t> 💻 Develop an interactive dashboard for decision support.</a:t>
            </a:r>
          </a:p>
        </p:txBody>
      </p:sp>
    </p:spTree>
    <p:extLst>
      <p:ext uri="{BB962C8B-B14F-4D97-AF65-F5344CB8AC3E}">
        <p14:creationId xmlns:p14="http://schemas.microsoft.com/office/powerpoint/2010/main" val="994985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8AF99-C46C-FC07-1BF8-6028E01AD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536" y="-96233"/>
            <a:ext cx="4974336" cy="101403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324D1F"/>
                </a:solidFill>
              </a:rPr>
              <a:t>Project Execution 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7A0027-E5B8-F91D-BB9A-4A3E100A01D9}"/>
              </a:ext>
            </a:extLst>
          </p:cNvPr>
          <p:cNvSpPr/>
          <p:nvPr/>
        </p:nvSpPr>
        <p:spPr>
          <a:xfrm>
            <a:off x="4046220" y="839246"/>
            <a:ext cx="2649470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57F2F3-0F74-D085-7DC0-5643B0E5FB5F}"/>
              </a:ext>
            </a:extLst>
          </p:cNvPr>
          <p:cNvSpPr txBox="1"/>
          <p:nvPr/>
        </p:nvSpPr>
        <p:spPr>
          <a:xfrm>
            <a:off x="4065649" y="786926"/>
            <a:ext cx="2617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   Government Dataset </a:t>
            </a:r>
          </a:p>
          <a:p>
            <a:r>
              <a:rPr lang="en-US" b="1" dirty="0"/>
              <a:t>              (AGMARKNET)        </a:t>
            </a:r>
          </a:p>
        </p:txBody>
      </p:sp>
      <p:pic>
        <p:nvPicPr>
          <p:cNvPr id="8" name="Graphic 7" descr="Briefcase with solid fill">
            <a:extLst>
              <a:ext uri="{FF2B5EF4-FFF2-40B4-BE49-F238E27FC236}">
                <a16:creationId xmlns:a16="http://schemas.microsoft.com/office/drawing/2014/main" id="{21B7D21C-425F-3B7A-2392-FAE46AC845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71367" y="839246"/>
            <a:ext cx="372332" cy="313382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0582A0F-37D1-A220-9F0C-427211AA26F4}"/>
              </a:ext>
            </a:extLst>
          </p:cNvPr>
          <p:cNvCxnSpPr>
            <a:cxnSpLocks/>
          </p:cNvCxnSpPr>
          <p:nvPr/>
        </p:nvCxnSpPr>
        <p:spPr>
          <a:xfrm>
            <a:off x="5250942" y="1485577"/>
            <a:ext cx="0" cy="333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138AD09-28E8-BF13-8DDE-1FCB205E4EFC}"/>
              </a:ext>
            </a:extLst>
          </p:cNvPr>
          <p:cNvSpPr/>
          <p:nvPr/>
        </p:nvSpPr>
        <p:spPr>
          <a:xfrm>
            <a:off x="4032503" y="1829432"/>
            <a:ext cx="2606038" cy="11612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🧹 Data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Cleaning Missing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Value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 Encoding</a:t>
            </a:r>
            <a:endParaRPr lang="en-US" b="1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5838306-FC9E-BAA3-E0F2-123C93F742BE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5335522" y="2990720"/>
            <a:ext cx="0" cy="325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49CE7A6-2E95-26F2-C901-7EFD0876651E}"/>
              </a:ext>
            </a:extLst>
          </p:cNvPr>
          <p:cNvSpPr/>
          <p:nvPr/>
        </p:nvSpPr>
        <p:spPr>
          <a:xfrm>
            <a:off x="4056508" y="3314242"/>
            <a:ext cx="2606036" cy="678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BDDE21-E211-B663-E75A-5D7E50BE8630}"/>
              </a:ext>
            </a:extLst>
          </p:cNvPr>
          <p:cNvSpPr txBox="1"/>
          <p:nvPr/>
        </p:nvSpPr>
        <p:spPr>
          <a:xfrm>
            <a:off x="4009647" y="3323749"/>
            <a:ext cx="2628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🗄 SQLite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 Processed 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2BAAB1-9D18-7111-CC00-0197E29E73E8}"/>
              </a:ext>
            </a:extLst>
          </p:cNvPr>
          <p:cNvSpPr txBox="1"/>
          <p:nvPr/>
        </p:nvSpPr>
        <p:spPr>
          <a:xfrm>
            <a:off x="2500883" y="4317643"/>
            <a:ext cx="2606036" cy="64633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🤖 Random 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Future Price Prediction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3D4ECAF-0E54-F071-D013-1079137ABE59}"/>
              </a:ext>
            </a:extLst>
          </p:cNvPr>
          <p:cNvCxnSpPr>
            <a:cxnSpLocks/>
          </p:cNvCxnSpPr>
          <p:nvPr/>
        </p:nvCxnSpPr>
        <p:spPr>
          <a:xfrm flipH="1">
            <a:off x="4119660" y="3986934"/>
            <a:ext cx="648078" cy="331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C1E2824-BFDD-2F1B-1A45-09F0CE768940}"/>
              </a:ext>
            </a:extLst>
          </p:cNvPr>
          <p:cNvCxnSpPr>
            <a:cxnSpLocks/>
          </p:cNvCxnSpPr>
          <p:nvPr/>
        </p:nvCxnSpPr>
        <p:spPr>
          <a:xfrm>
            <a:off x="5725852" y="3992462"/>
            <a:ext cx="627507" cy="337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97B01F9-440D-24CC-89F7-3A071A694DBF}"/>
              </a:ext>
            </a:extLst>
          </p:cNvPr>
          <p:cNvSpPr txBox="1"/>
          <p:nvPr/>
        </p:nvSpPr>
        <p:spPr>
          <a:xfrm>
            <a:off x="5733847" y="4330292"/>
            <a:ext cx="1883664" cy="120032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📊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Trend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Seasonality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Stability Score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D2D2EE4-8147-FAEA-3E5F-52D21B9CC47C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3803901" y="4963974"/>
            <a:ext cx="0" cy="7001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636A5DD-6C39-0F58-00F5-71BD8D044AD1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6675679" y="5530621"/>
            <a:ext cx="0" cy="1335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B8F67F8-582C-7482-0F22-CAC9282B22D8}"/>
              </a:ext>
            </a:extLst>
          </p:cNvPr>
          <p:cNvCxnSpPr/>
          <p:nvPr/>
        </p:nvCxnSpPr>
        <p:spPr>
          <a:xfrm>
            <a:off x="3816476" y="5664148"/>
            <a:ext cx="28792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5FECEE8-A68B-673B-1866-1D2435404F81}"/>
              </a:ext>
            </a:extLst>
          </p:cNvPr>
          <p:cNvCxnSpPr>
            <a:cxnSpLocks/>
          </p:cNvCxnSpPr>
          <p:nvPr/>
        </p:nvCxnSpPr>
        <p:spPr>
          <a:xfrm>
            <a:off x="5250942" y="5664148"/>
            <a:ext cx="0" cy="206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95E8BEA-8C85-8809-957F-14A174E527A2}"/>
              </a:ext>
            </a:extLst>
          </p:cNvPr>
          <p:cNvSpPr txBox="1"/>
          <p:nvPr/>
        </p:nvSpPr>
        <p:spPr>
          <a:xfrm>
            <a:off x="3890202" y="5854261"/>
            <a:ext cx="2721480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🌐 Streamlit Dashboard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3947225-9353-2170-4A15-17C4D46EC501}"/>
              </a:ext>
            </a:extLst>
          </p:cNvPr>
          <p:cNvCxnSpPr>
            <a:stCxn id="46" idx="2"/>
          </p:cNvCxnSpPr>
          <p:nvPr/>
        </p:nvCxnSpPr>
        <p:spPr>
          <a:xfrm>
            <a:off x="5250942" y="6223593"/>
            <a:ext cx="0" cy="204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2599395-6D05-D970-70AD-9740B2B74E7C}"/>
              </a:ext>
            </a:extLst>
          </p:cNvPr>
          <p:cNvSpPr txBox="1"/>
          <p:nvPr/>
        </p:nvSpPr>
        <p:spPr>
          <a:xfrm>
            <a:off x="4187954" y="6413705"/>
            <a:ext cx="2165401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👨‍🌾 Farmer / User</a:t>
            </a:r>
          </a:p>
        </p:txBody>
      </p:sp>
    </p:spTree>
    <p:extLst>
      <p:ext uri="{BB962C8B-B14F-4D97-AF65-F5344CB8AC3E}">
        <p14:creationId xmlns:p14="http://schemas.microsoft.com/office/powerpoint/2010/main" val="1291547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C6B20-94CC-9BB1-964C-010428F9C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2344" y="365125"/>
            <a:ext cx="5989320" cy="1325563"/>
          </a:xfrm>
        </p:spPr>
        <p:txBody>
          <a:bodyPr/>
          <a:lstStyle/>
          <a:p>
            <a:r>
              <a:rPr lang="en-US" b="1" dirty="0">
                <a:solidFill>
                  <a:srgbClr val="324D1F"/>
                </a:solidFill>
              </a:rPr>
              <a:t>Machine Learning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89A06-867B-27C0-A322-801CFED0D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90688"/>
            <a:ext cx="3547872" cy="49592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          Historical Data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      Data Preprocessing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       Data Preparation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        Train / Test Split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Random Forest Regressor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       Price Prediction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EE7215B-2E81-CF7C-176E-04B7DC8BCA98}"/>
              </a:ext>
            </a:extLst>
          </p:cNvPr>
          <p:cNvCxnSpPr/>
          <p:nvPr/>
        </p:nvCxnSpPr>
        <p:spPr>
          <a:xfrm>
            <a:off x="2276856" y="2093976"/>
            <a:ext cx="0" cy="566928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9BAA64C-AB60-3DCB-6BCB-0A26CF882AC8}"/>
              </a:ext>
            </a:extLst>
          </p:cNvPr>
          <p:cNvCxnSpPr/>
          <p:nvPr/>
        </p:nvCxnSpPr>
        <p:spPr>
          <a:xfrm>
            <a:off x="2276856" y="2990088"/>
            <a:ext cx="0" cy="566928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0CD4ACE-ECF3-5482-3544-BF2CD8057D00}"/>
              </a:ext>
            </a:extLst>
          </p:cNvPr>
          <p:cNvCxnSpPr/>
          <p:nvPr/>
        </p:nvCxnSpPr>
        <p:spPr>
          <a:xfrm>
            <a:off x="2276856" y="3877056"/>
            <a:ext cx="0" cy="539496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17CB3C0-4D81-E4DC-74D0-22CD18EB968B}"/>
              </a:ext>
            </a:extLst>
          </p:cNvPr>
          <p:cNvCxnSpPr/>
          <p:nvPr/>
        </p:nvCxnSpPr>
        <p:spPr>
          <a:xfrm>
            <a:off x="2276856" y="4782312"/>
            <a:ext cx="0" cy="530352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9743D5F-E048-4E48-0993-45AD36F01AF7}"/>
              </a:ext>
            </a:extLst>
          </p:cNvPr>
          <p:cNvCxnSpPr/>
          <p:nvPr/>
        </p:nvCxnSpPr>
        <p:spPr>
          <a:xfrm>
            <a:off x="2276856" y="5715000"/>
            <a:ext cx="0" cy="59436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1FBD209-ECA3-ADAC-56F7-E1B5D60C8B1F}"/>
              </a:ext>
            </a:extLst>
          </p:cNvPr>
          <p:cNvSpPr txBox="1"/>
          <p:nvPr/>
        </p:nvSpPr>
        <p:spPr>
          <a:xfrm>
            <a:off x="6949440" y="1990833"/>
            <a:ext cx="436168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Algorithm</a:t>
            </a: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/>
              <a:t>Random Forest Regressor </a:t>
            </a:r>
          </a:p>
          <a:p>
            <a:r>
              <a:rPr lang="en-US" sz="2400" b="1" dirty="0"/>
              <a:t>Input Features</a:t>
            </a: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/>
              <a:t>Commodity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/>
              <a:t>State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/>
              <a:t>District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/>
              <a:t>Market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/>
              <a:t>Variety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/>
              <a:t>Grade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/>
              <a:t>Date </a:t>
            </a:r>
          </a:p>
          <a:p>
            <a:r>
              <a:rPr lang="en-US" sz="2400" b="1" dirty="0"/>
              <a:t>Output</a:t>
            </a: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/>
              <a:t>Predicted Modal Price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40731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1E1BBE-199A-3EED-5D5C-C3D65F675F11}"/>
              </a:ext>
            </a:extLst>
          </p:cNvPr>
          <p:cNvSpPr txBox="1"/>
          <p:nvPr/>
        </p:nvSpPr>
        <p:spPr>
          <a:xfrm>
            <a:off x="3703320" y="0"/>
            <a:ext cx="434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24D1F"/>
                </a:solidFill>
              </a:rPr>
              <a:t>Dashboard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D60316-1A48-134D-FF3A-ED0FD27803C0}"/>
              </a:ext>
            </a:extLst>
          </p:cNvPr>
          <p:cNvSpPr txBox="1"/>
          <p:nvPr/>
        </p:nvSpPr>
        <p:spPr>
          <a:xfrm>
            <a:off x="539496" y="6099047"/>
            <a:ext cx="115031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                                                                            </a:t>
            </a:r>
            <a:r>
              <a:rPr lang="en-US" sz="2000" b="1" dirty="0"/>
              <a:t>Key Components</a:t>
            </a:r>
          </a:p>
          <a:p>
            <a:r>
              <a:rPr lang="en-US" dirty="0"/>
              <a:t>📊 Interactive Dashboard      💰 Current &amp; Predicted Price         🎯 AI Recommendation          📈 Market Analytics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A90F4E-881A-C5AA-597E-C6A474F2E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584775"/>
            <a:ext cx="10780776" cy="55142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48716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A6687D-0E01-7E21-3265-46069D1CD82A}"/>
              </a:ext>
            </a:extLst>
          </p:cNvPr>
          <p:cNvSpPr txBox="1"/>
          <p:nvPr/>
        </p:nvSpPr>
        <p:spPr>
          <a:xfrm>
            <a:off x="3300984" y="0"/>
            <a:ext cx="4873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324D1F"/>
                </a:solidFill>
              </a:rPr>
              <a:t>Price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324D1F"/>
                </a:solidFill>
              </a:rPr>
              <a:t>Prediction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324D1F"/>
                </a:solidFill>
              </a:rPr>
              <a:t>Module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A749DF-4675-5204-1C80-857B7E2FACBD}"/>
              </a:ext>
            </a:extLst>
          </p:cNvPr>
          <p:cNvSpPr txBox="1"/>
          <p:nvPr/>
        </p:nvSpPr>
        <p:spPr>
          <a:xfrm>
            <a:off x="9820656" y="2029968"/>
            <a:ext cx="21945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👤 </a:t>
            </a:r>
            <a:r>
              <a:rPr lang="en-US" b="1" dirty="0"/>
              <a:t>User Input</a:t>
            </a:r>
          </a:p>
          <a:p>
            <a:r>
              <a:rPr lang="en-US" dirty="0"/>
              <a:t>User selects market details</a:t>
            </a:r>
          </a:p>
          <a:p>
            <a:endParaRPr lang="en-US" dirty="0"/>
          </a:p>
          <a:p>
            <a:endParaRPr lang="en-US" b="1" dirty="0"/>
          </a:p>
          <a:p>
            <a:r>
              <a:rPr lang="en-US" b="1" dirty="0"/>
              <a:t>🤖 AI Prediction</a:t>
            </a:r>
          </a:p>
          <a:p>
            <a:r>
              <a:rPr lang="en-US" dirty="0"/>
              <a:t>Random Forest predicts future price</a:t>
            </a:r>
          </a:p>
          <a:p>
            <a:endParaRPr lang="en-US" dirty="0"/>
          </a:p>
          <a:p>
            <a:endParaRPr lang="en-US" b="1" dirty="0"/>
          </a:p>
          <a:p>
            <a:r>
              <a:rPr lang="en-US" b="1" dirty="0"/>
              <a:t>💡Recommendation</a:t>
            </a:r>
          </a:p>
          <a:p>
            <a:r>
              <a:rPr lang="en-US" dirty="0"/>
              <a:t>AI generates recommendation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DD7D0D-7C42-484D-28F7-EA56A7BDA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7771"/>
            <a:ext cx="9025128" cy="58001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A425BEB-22DF-87C3-35EB-2AFD0883475C}"/>
              </a:ext>
            </a:extLst>
          </p:cNvPr>
          <p:cNvCxnSpPr/>
          <p:nvPr/>
        </p:nvCxnSpPr>
        <p:spPr>
          <a:xfrm>
            <a:off x="10771632" y="2898648"/>
            <a:ext cx="0" cy="530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5C5FCF7-A4EC-7162-7900-7A0418F1E97D}"/>
              </a:ext>
            </a:extLst>
          </p:cNvPr>
          <p:cNvCxnSpPr/>
          <p:nvPr/>
        </p:nvCxnSpPr>
        <p:spPr>
          <a:xfrm>
            <a:off x="10771632" y="4297680"/>
            <a:ext cx="0" cy="548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9142DB3-05DD-95B4-6749-3BCC086E5DE9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9482328" y="3637866"/>
            <a:ext cx="338328" cy="55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462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22AF80-11C6-3E10-EE21-2B04B8B7ED3F}"/>
              </a:ext>
            </a:extLst>
          </p:cNvPr>
          <p:cNvSpPr txBox="1"/>
          <p:nvPr/>
        </p:nvSpPr>
        <p:spPr>
          <a:xfrm>
            <a:off x="3483864" y="246888"/>
            <a:ext cx="5303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324D1F"/>
                </a:solidFill>
              </a:rPr>
              <a:t>Market Analytics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9C97DF-C09F-2669-4C72-353981848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042415"/>
            <a:ext cx="10341864" cy="47731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2F91A4-B0FA-1963-C9EF-820AAE900F40}"/>
              </a:ext>
            </a:extLst>
          </p:cNvPr>
          <p:cNvSpPr txBox="1"/>
          <p:nvPr/>
        </p:nvSpPr>
        <p:spPr>
          <a:xfrm>
            <a:off x="868680" y="6300216"/>
            <a:ext cx="10341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📈 Historical Trend                                          🌦️ Seasonal Pattern                                       ⚖️ Market Stability</a:t>
            </a:r>
          </a:p>
        </p:txBody>
      </p:sp>
    </p:spTree>
    <p:extLst>
      <p:ext uri="{BB962C8B-B14F-4D97-AF65-F5344CB8AC3E}">
        <p14:creationId xmlns:p14="http://schemas.microsoft.com/office/powerpoint/2010/main" val="2730993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3B4003-2F9F-848E-EE78-81E4BF3AE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559107"/>
            <a:ext cx="10689336" cy="44210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86703C-5628-AE15-A5BC-B4062C54FA84}"/>
              </a:ext>
            </a:extLst>
          </p:cNvPr>
          <p:cNvSpPr txBox="1"/>
          <p:nvPr/>
        </p:nvSpPr>
        <p:spPr>
          <a:xfrm>
            <a:off x="4480560" y="292608"/>
            <a:ext cx="2185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324D1F"/>
                </a:solidFill>
              </a:rPr>
              <a:t>Records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A203FD-D77D-6A10-E450-A26CAA372D62}"/>
              </a:ext>
            </a:extLst>
          </p:cNvPr>
          <p:cNvSpPr txBox="1"/>
          <p:nvPr/>
        </p:nvSpPr>
        <p:spPr>
          <a:xfrm>
            <a:off x="576072" y="6231012"/>
            <a:ext cx="10899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Features:- </a:t>
            </a:r>
            <a:r>
              <a:rPr lang="en-US" dirty="0"/>
              <a:t>             📋 Historical Records   🔍 Smart Filtering     📥 CSV Download     📊 Government Market Data</a:t>
            </a:r>
          </a:p>
        </p:txBody>
      </p:sp>
    </p:spTree>
    <p:extLst>
      <p:ext uri="{BB962C8B-B14F-4D97-AF65-F5344CB8AC3E}">
        <p14:creationId xmlns:p14="http://schemas.microsoft.com/office/powerpoint/2010/main" val="418502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966599-6252-F041-A205-FA8464220D01}"/>
              </a:ext>
            </a:extLst>
          </p:cNvPr>
          <p:cNvSpPr txBox="1"/>
          <p:nvPr/>
        </p:nvSpPr>
        <p:spPr>
          <a:xfrm>
            <a:off x="3749040" y="228600"/>
            <a:ext cx="31455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324D1F"/>
                </a:solidFill>
              </a:rPr>
              <a:t>Future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1C34A2-69FD-8CD4-2926-75BF1A0D5CAE}"/>
              </a:ext>
            </a:extLst>
          </p:cNvPr>
          <p:cNvSpPr txBox="1"/>
          <p:nvPr/>
        </p:nvSpPr>
        <p:spPr>
          <a:xfrm>
            <a:off x="3264408" y="1709928"/>
            <a:ext cx="4114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🌦️ Weather Integration</a:t>
            </a:r>
          </a:p>
          <a:p>
            <a:endParaRPr lang="en-US" sz="2400" dirty="0"/>
          </a:p>
          <a:p>
            <a:r>
              <a:rPr lang="en-US" sz="2400" dirty="0"/>
              <a:t>📱 Mobile Application</a:t>
            </a:r>
          </a:p>
          <a:p>
            <a:endParaRPr lang="en-US" sz="2400" dirty="0"/>
          </a:p>
          <a:p>
            <a:r>
              <a:rPr lang="en-US" sz="2400" dirty="0"/>
              <a:t>🌍 Multi-language Support</a:t>
            </a:r>
          </a:p>
          <a:p>
            <a:endParaRPr lang="en-US" sz="2400" dirty="0"/>
          </a:p>
          <a:p>
            <a:r>
              <a:rPr lang="en-US" sz="2400" dirty="0"/>
              <a:t>📩 SMS Alerts</a:t>
            </a:r>
          </a:p>
          <a:p>
            <a:endParaRPr lang="en-US" sz="2400" dirty="0"/>
          </a:p>
          <a:p>
            <a:r>
              <a:rPr lang="en-US" sz="2400" dirty="0"/>
              <a:t>🧠 Advanced AI Models</a:t>
            </a:r>
          </a:p>
          <a:p>
            <a:endParaRPr lang="en-US" sz="2400" dirty="0"/>
          </a:p>
          <a:p>
            <a:r>
              <a:rPr lang="en-US" sz="2400" dirty="0"/>
              <a:t>📊 Real-Time Market Updates</a:t>
            </a:r>
          </a:p>
        </p:txBody>
      </p:sp>
    </p:spTree>
    <p:extLst>
      <p:ext uri="{BB962C8B-B14F-4D97-AF65-F5344CB8AC3E}">
        <p14:creationId xmlns:p14="http://schemas.microsoft.com/office/powerpoint/2010/main" val="2365293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0883DC-F60A-C94E-DA57-7C33A5BFC3A4}"/>
              </a:ext>
            </a:extLst>
          </p:cNvPr>
          <p:cNvSpPr txBox="1"/>
          <p:nvPr/>
        </p:nvSpPr>
        <p:spPr>
          <a:xfrm>
            <a:off x="1435608" y="364654"/>
            <a:ext cx="837590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rgbClr val="324D1F"/>
                </a:solidFill>
              </a:rPr>
              <a:t>Questions &amp; Discussion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205930-32CF-41F1-5EB7-1257D36AA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52" y="1717839"/>
            <a:ext cx="3716264" cy="34223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447384-1967-50F1-E051-73D57617F693}"/>
              </a:ext>
            </a:extLst>
          </p:cNvPr>
          <p:cNvSpPr txBox="1"/>
          <p:nvPr/>
        </p:nvSpPr>
        <p:spPr>
          <a:xfrm>
            <a:off x="5138928" y="3429000"/>
            <a:ext cx="6915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                              🌐 </a:t>
            </a:r>
            <a:r>
              <a:rPr lang="en-US" sz="2400" b="1" dirty="0"/>
              <a:t>Live Demo  </a:t>
            </a:r>
          </a:p>
          <a:p>
            <a:r>
              <a:rPr lang="en-US" sz="2400" b="1" dirty="0"/>
              <a:t> </a:t>
            </a:r>
            <a:r>
              <a:rPr lang="en-US" sz="2400" dirty="0"/>
              <a:t>https://smart-farmer-advisory-system.streamlit.app/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E5B7B8-4893-5C84-7A62-A28F77524E02}"/>
              </a:ext>
            </a:extLst>
          </p:cNvPr>
          <p:cNvSpPr txBox="1"/>
          <p:nvPr/>
        </p:nvSpPr>
        <p:spPr>
          <a:xfrm>
            <a:off x="204216" y="5385350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📱</a:t>
            </a:r>
            <a:r>
              <a:rPr lang="en-US" b="1" dirty="0"/>
              <a:t>Scan to access the live application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A963A6-1F26-E1B8-858D-1F3C674D2E5F}"/>
              </a:ext>
            </a:extLst>
          </p:cNvPr>
          <p:cNvSpPr txBox="1"/>
          <p:nvPr/>
        </p:nvSpPr>
        <p:spPr>
          <a:xfrm>
            <a:off x="3765428" y="6373236"/>
            <a:ext cx="371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💬 Happy to answer your questions</a:t>
            </a:r>
          </a:p>
        </p:txBody>
      </p:sp>
    </p:spTree>
    <p:extLst>
      <p:ext uri="{BB962C8B-B14F-4D97-AF65-F5344CB8AC3E}">
        <p14:creationId xmlns:p14="http://schemas.microsoft.com/office/powerpoint/2010/main" val="2046487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486</Words>
  <Application>Microsoft Office PowerPoint</Application>
  <PresentationFormat>Widescreen</PresentationFormat>
  <Paragraphs>124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   Smart Farmer Advisory System </vt:lpstr>
      <vt:lpstr>                                  INDEX</vt:lpstr>
      <vt:lpstr>                 Company Introduction</vt:lpstr>
      <vt:lpstr>PowerPoint Presentation</vt:lpstr>
      <vt:lpstr>Technology Stack</vt:lpstr>
      <vt:lpstr> Problem Statement</vt:lpstr>
      <vt:lpstr>Project Objectives</vt:lpstr>
      <vt:lpstr>Project Execution Flow</vt:lpstr>
      <vt:lpstr>Machine Learning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 kantiwal</dc:creator>
  <cp:lastModifiedBy>aksh kantiwal</cp:lastModifiedBy>
  <cp:revision>4</cp:revision>
  <dcterms:created xsi:type="dcterms:W3CDTF">2026-07-24T04:41:05Z</dcterms:created>
  <dcterms:modified xsi:type="dcterms:W3CDTF">2026-07-24T15:32:18Z</dcterms:modified>
</cp:coreProperties>
</file>